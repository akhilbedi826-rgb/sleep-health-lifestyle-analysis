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73" r:id="rId16"/>
    <p:sldId id="274" r:id="rId17"/>
    <p:sldId id="268" r:id="rId18"/>
    <p:sldId id="269" r:id="rId19"/>
    <p:sldId id="270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9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82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3E7C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2743200" cy="2743200"/>
          </a:xfrm>
          <a:prstGeom prst="ellipse">
            <a:avLst/>
          </a:prstGeom>
          <a:solidFill>
            <a:srgbClr val="E07A5F">
              <a:alpha val="1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A9C4"/>
                </a:solidFill>
              </a:rPr>
              <a:t>A DATA-DRIVEN STUDY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Health and Lifestyle Analysis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5E3"/>
                </a:solidFill>
              </a:rPr>
              <a:t>Examining how lifestyle factors shape sleep quality, and whether the relationship is truly proportional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297680"/>
            <a:ext cx="50292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D5E3"/>
                </a:solidFill>
              </a:rPr>
              <a:t>Mini Project  |  </a:t>
            </a:r>
            <a:r>
              <a:rPr lang="en-US" sz="1300" dirty="0">
                <a:solidFill>
                  <a:srgbClr val="C9D5E3"/>
                </a:solidFill>
              </a:rPr>
              <a:t>Dataset: Sleep Health and Lifestyle (374 records)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9C4"/>
                </a:solidFill>
              </a:rPr>
              <a:t>Prepared by: Akhil Bedi   |   College: CEC JHANJERI   |   Course</a:t>
            </a:r>
            <a:r>
              <a:rPr lang="en-US" sz="1200">
                <a:solidFill>
                  <a:srgbClr val="8FA9C4"/>
                </a:solidFill>
              </a:rPr>
              <a:t>: CSE</a:t>
            </a:r>
            <a:r>
              <a:rPr lang="en-US" sz="1200" dirty="0">
                <a:solidFill>
                  <a:srgbClr val="8FA9C4"/>
                </a:solidFill>
              </a:rPr>
              <a:t>(Data Science)   |   Date: 18-6-2026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</a:rPr>
              <a:t>What this analysis sets out to answer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EAF1F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391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</a:rPr>
              <a:t>Understand the 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Explore sleep and lifestyle records across 374 individuals to understand patterns in sleep duration, quality, and daily habits.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20240"/>
            <a:ext cx="548640" cy="548640"/>
          </a:xfrm>
          <a:prstGeom prst="ellipse">
            <a:avLst/>
          </a:prstGeom>
          <a:solidFill>
            <a:srgbClr val="EAF1F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0391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92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</a:rPr>
              <a:t>Analyze Lifestyle Impact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560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Examine how physical activity, stress, occupation, and BMI relate to sleep quality through visual and statistical analysis.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EAF1F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3251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78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</a:rPr>
              <a:t>Test Proportionality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4846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Statistically determine whether sleep quality is directly proportional to lifestyle indicators, or only to some of them.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06240"/>
            <a:ext cx="548640" cy="548640"/>
          </a:xfrm>
          <a:prstGeom prst="ellipse">
            <a:avLst/>
          </a:prstGeom>
          <a:solidFill>
            <a:srgbClr val="EAF1F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432511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178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</a:rPr>
              <a:t>Surface Health Insights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83680" y="4846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Identify links between sleep disorders, BMI category, and lifestyle to draw meaningful, real-world conclusions.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12080" cy="4937760"/>
          </a:xfrm>
          <a:prstGeom prst="roundRect">
            <a:avLst>
              <a:gd name="adj" fmla="val 1481"/>
            </a:avLst>
          </a:prstGeom>
          <a:solidFill>
            <a:srgbClr val="1B2A4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00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645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Source &amp; Structure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0120" y="228600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CE5F0"/>
                </a:solidFill>
              </a:rPr>
              <a:t>374 individual records, 13 original attributes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CE5F0"/>
                </a:solidFill>
              </a:rPr>
              <a:t>Demographics: Age, Gender, Occupation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CE5F0"/>
                </a:solidFill>
              </a:rPr>
              <a:t>Sleep metrics: Duration (hrs), Quality (1-10 scale)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CE5F0"/>
                </a:solidFill>
              </a:rPr>
              <a:t>Lifestyle: Physical Activity Level, Daily Steps, Stress Level (1-10)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CE5F0"/>
                </a:solidFill>
              </a:rPr>
              <a:t>Health: BMI Category, Blood Pressure, Heart Rate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CE5F0"/>
                </a:solidFill>
              </a:rPr>
              <a:t>Outcome: Sleep Disorder (None / Insomnia / Sleep Apnea)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63640" y="1280160"/>
            <a:ext cx="2491740" cy="1143000"/>
          </a:xfrm>
          <a:prstGeom prst="roundRect">
            <a:avLst>
              <a:gd name="adj" fmla="val 6400"/>
            </a:avLst>
          </a:prstGeom>
          <a:solidFill>
            <a:srgbClr val="F4EFE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1389888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A5F"/>
                </a:solidFill>
              </a:rPr>
              <a:t>374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355080" y="1993392"/>
            <a:ext cx="2308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</a:rPr>
              <a:t>Individuals surveyed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029700" y="1280160"/>
            <a:ext cx="2491740" cy="1143000"/>
          </a:xfrm>
          <a:prstGeom prst="roundRect">
            <a:avLst>
              <a:gd name="adj" fmla="val 6400"/>
            </a:avLst>
          </a:prstGeom>
          <a:solidFill>
            <a:srgbClr val="F4EFE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029700" y="1389888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A5F"/>
                </a:solidFill>
              </a:rPr>
              <a:t>11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121140" y="1993392"/>
            <a:ext cx="2308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</a:rPr>
              <a:t>Distinct occupations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2697480"/>
            <a:ext cx="2491740" cy="1143000"/>
          </a:xfrm>
          <a:prstGeom prst="roundRect">
            <a:avLst>
              <a:gd name="adj" fmla="val 6400"/>
            </a:avLst>
          </a:prstGeom>
          <a:solidFill>
            <a:srgbClr val="F4EFE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2807208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A5F"/>
                </a:solidFill>
              </a:rPr>
              <a:t>41%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355080" y="3410712"/>
            <a:ext cx="2308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</a:rPr>
              <a:t>Report a sleep disorder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029700" y="2697480"/>
            <a:ext cx="2491740" cy="1143000"/>
          </a:xfrm>
          <a:prstGeom prst="roundRect">
            <a:avLst>
              <a:gd name="adj" fmla="val 6400"/>
            </a:avLst>
          </a:prstGeom>
          <a:solidFill>
            <a:srgbClr val="F4EFE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029700" y="2807208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A5F"/>
                </a:solidFill>
              </a:rPr>
              <a:t>0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9121140" y="3410712"/>
            <a:ext cx="2308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</a:rPr>
              <a:t>Missing values after cleaning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63640" y="416052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EAF1F2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370832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95160" y="4370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</a:rPr>
              <a:t>Why this dataset works well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492240" y="4800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</a:rPr>
              <a:t>It pairs subjective sleep quality with objective lifestyle markers (steps, activity, stress) — letting us move beyond "sleep is good or bad" into measurable cause-and-effect style relationships.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</a:rPr>
              <a:t>Steps taken before any analysis began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EAF1F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391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1. Handle blank Sleep Disorder values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</a:rPr>
              <a:t>219 blank entries didn't mean missing data — they meant "no diagnosed disorder." Explicitly relabeled as "No Disorder" rather than dropped.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20240"/>
            <a:ext cx="548640" cy="548640"/>
          </a:xfrm>
          <a:prstGeom prst="ellipse">
            <a:avLst/>
          </a:prstGeom>
          <a:solidFill>
            <a:srgbClr val="EAF1F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0391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2. Merge inconsistent BMI labels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83680" y="2560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</a:rPr>
              <a:t>"Normal" and "Normal Weight" were the same category entered inconsistently — merged into a single "Normal" label.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EAF1F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3251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78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3. Split Blood Pressure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14400" y="4846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</a:rPr>
              <a:t>The combined "120/80" text field was split into separate numeric Systolic and Diastolic columns to allow statistical analysis.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06240"/>
            <a:ext cx="548640" cy="548640"/>
          </a:xfrm>
          <a:prstGeom prst="ellipse">
            <a:avLst/>
          </a:prstGeom>
          <a:solidFill>
            <a:srgbClr val="EAF1F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432511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178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4. Validate data types &amp; duplicates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83680" y="4846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</a:rPr>
              <a:t>Confirmed correct data types for every column and checked for duplicate records; none were found requiring removal.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Analysis: How Is Sleep Distributed?</a:t>
            </a:r>
            <a:endParaRPr lang="en-US" sz="2600" dirty="0"/>
          </a:p>
        </p:txBody>
      </p:sp>
      <p:pic>
        <p:nvPicPr>
          <p:cNvPr id="3" name="Image 0" descr="/home/claude/sleep_project/figures/01_distribu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34440"/>
            <a:ext cx="8229600" cy="4297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006840" y="1234440"/>
            <a:ext cx="2560320" cy="4297680"/>
          </a:xfrm>
          <a:prstGeom prst="roundRect">
            <a:avLst>
              <a:gd name="adj" fmla="val 2857"/>
            </a:avLst>
          </a:prstGeom>
          <a:solidFill>
            <a:srgbClr val="EAF1F2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46304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38360" y="1481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</a:rPr>
              <a:t>Key Reading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9235440" y="1965960"/>
            <a:ext cx="2103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Average sleep duration: </a:t>
            </a:r>
            <a:r>
              <a:rPr lang="en-US" sz="1150" b="1" dirty="0">
                <a:solidFill>
                  <a:srgbClr val="E07A5F"/>
                </a:solidFill>
              </a:rPr>
              <a:t>7.13 hrs</a:t>
            </a:r>
            <a:r>
              <a:rPr lang="en-US" sz="1150" dirty="0">
                <a:solidFill>
                  <a:srgbClr val="5C6B7A"/>
                </a:solidFill>
              </a:rPr>
              <a:t> — close to the recommended 7-9 hrs.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Average sleep quality: </a:t>
            </a:r>
            <a:r>
              <a:rPr lang="en-US" sz="1150" b="1" dirty="0">
                <a:solidFill>
                  <a:srgbClr val="E07A5F"/>
                </a:solidFill>
              </a:rPr>
              <a:t>7.31 / 10</a:t>
            </a:r>
            <a:r>
              <a:rPr lang="en-US" sz="1150" dirty="0">
                <a:solidFill>
                  <a:srgbClr val="5C6B7A"/>
                </a:solidFill>
              </a:rPr>
              <a:t>, but with a wide spread (4-9), showing real variation worth explaining.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5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in the Data?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</a:rPr>
              <a:t>Demographic split and sleep disorder prevalence</a:t>
            </a:r>
            <a:endParaRPr lang="en-US" sz="1400" dirty="0"/>
          </a:p>
        </p:txBody>
      </p:sp>
      <p:pic>
        <p:nvPicPr>
          <p:cNvPr id="4" name="Image 0" descr="/home/claude/sleep_project/figures/09_gender_disorder_pi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417320"/>
            <a:ext cx="859536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0" y="1417320"/>
            <a:ext cx="2011680" cy="429768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0" y="1737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A5F"/>
                </a:solidFill>
              </a:rPr>
              <a:t>41.4%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784080" y="2423160"/>
            <a:ext cx="1645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5F0"/>
                </a:solidFill>
              </a:rPr>
              <a:t>of individuals report a sleep disorder (Insomnia or Sleep Apnea) — a substantial share, not a minority edge case.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 Factor #1: Stress Level</a:t>
            </a:r>
            <a:endParaRPr lang="en-US" sz="2700" dirty="0"/>
          </a:p>
        </p:txBody>
      </p:sp>
      <p:pic>
        <p:nvPicPr>
          <p:cNvPr id="3" name="Image 0" descr="/home/claude/sleep_project/figures/02_quality_vs_str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88720"/>
            <a:ext cx="676656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80960" y="1188720"/>
            <a:ext cx="3886200" cy="5212080"/>
          </a:xfrm>
          <a:prstGeom prst="roundRect">
            <a:avLst>
              <a:gd name="adj" fmla="val 1882"/>
            </a:avLst>
          </a:prstGeom>
          <a:solidFill>
            <a:srgbClr val="F4EFE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4630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49640" y="1508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Strongest Relationship Found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9052560" y="2240280"/>
            <a:ext cx="1737360" cy="1737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4"/>
          <p:cNvSpPr/>
          <p:nvPr/>
        </p:nvSpPr>
        <p:spPr>
          <a:xfrm>
            <a:off x="9052560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5F"/>
                </a:solidFill>
              </a:rPr>
              <a:t>r = -0.90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955280" y="41605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As stress level rises, sleep quality drops sharply and consistently.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This near -0.90 correlation is the single strongest relationship in the entire dataset — far stronger than physical activity or step count.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7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 Factor #2: Physical Activity</a:t>
            </a:r>
            <a:endParaRPr lang="en-US" sz="2700" dirty="0"/>
          </a:p>
        </p:txBody>
      </p:sp>
      <p:pic>
        <p:nvPicPr>
          <p:cNvPr id="3" name="Image 0" descr="/home/claude/sleep_project/figures/03_quality_vs_activ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88720"/>
            <a:ext cx="676656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80960" y="1188720"/>
            <a:ext cx="3886200" cy="5212080"/>
          </a:xfrm>
          <a:prstGeom prst="roundRect">
            <a:avLst>
              <a:gd name="adj" fmla="val 1882"/>
            </a:avLst>
          </a:prstGeom>
          <a:solidFill>
            <a:srgbClr val="EAF1F2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4630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49640" y="1463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A Weaker Relationship Than Expected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9052560" y="2286000"/>
            <a:ext cx="1737360" cy="1737360"/>
          </a:xfrm>
          <a:prstGeom prst="ellipse">
            <a:avLst/>
          </a:prstGeom>
          <a:solidFill>
            <a:srgbClr val="3E7C8C"/>
          </a:solidFill>
          <a:ln/>
        </p:spPr>
      </p:sp>
      <p:sp>
        <p:nvSpPr>
          <p:cNvPr id="8" name="Text 4"/>
          <p:cNvSpPr/>
          <p:nvPr/>
        </p:nvSpPr>
        <p:spPr>
          <a:xfrm>
            <a:off x="9052560" y="2743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 = 0.19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955280" y="42062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Physical activity shows only a weak positive correlation with sleep quality.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Daily Steps correlates even less (r = 0.02). This means lifestyle factors don't all move sleep quality equally — proportionality is not uniform.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Occupation Affect Sleep Quality?</a:t>
            </a:r>
            <a:endParaRPr lang="en-US" sz="2700" dirty="0"/>
          </a:p>
        </p:txBody>
      </p:sp>
      <p:pic>
        <p:nvPicPr>
          <p:cNvPr id="3" name="Image 0" descr="/home/claude/sleep_project/figures/05_quality_by_occup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88720"/>
            <a:ext cx="731520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83880" y="1188720"/>
            <a:ext cx="3429000" cy="5212080"/>
          </a:xfrm>
          <a:prstGeom prst="roundRect">
            <a:avLst>
              <a:gd name="adj" fmla="val 2133"/>
            </a:avLst>
          </a:prstGeom>
          <a:solidFill>
            <a:srgbClr val="F4EFE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463040"/>
            <a:ext cx="411480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06840" y="1490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Occupation Patterns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8458200" y="21031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Engineers, Lawyers and Accountants </a:t>
            </a:r>
            <a:r>
              <a:rPr lang="en-US" sz="1200" dirty="0">
                <a:solidFill>
                  <a:srgbClr val="5C6B7A"/>
                </a:solidFill>
              </a:rPr>
              <a:t>report the highest average sleep quality (7.9-8.4).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Sales roles and Scientists </a:t>
            </a:r>
            <a:r>
              <a:rPr lang="en-US" sz="1200" dirty="0">
                <a:solidFill>
                  <a:srgbClr val="5C6B7A"/>
                </a:solidFill>
              </a:rPr>
              <a:t>report the lowest — though these groups have very few people (2-4 records), so treat them as indicative, not conclusive.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</a:rPr>
              <a:t>This points to job-related stress/schedule as an indirect lifestyle driver of sleep quality.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9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BMI Category and Sleep Quality</a:t>
            </a:r>
            <a:endParaRPr lang="en-US" sz="2700" dirty="0"/>
          </a:p>
        </p:txBody>
      </p:sp>
      <p:pic>
        <p:nvPicPr>
          <p:cNvPr id="3" name="Image 0" descr="/home/claude/sleep_project/figures/06_quality_by_bm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88720"/>
            <a:ext cx="640080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0" y="1188720"/>
            <a:ext cx="4251960" cy="5212080"/>
          </a:xfrm>
          <a:prstGeom prst="roundRect">
            <a:avLst>
              <a:gd name="adj" fmla="val 1720"/>
            </a:avLst>
          </a:prstGeom>
          <a:solidFill>
            <a:srgbClr val="EAF1F2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463040"/>
            <a:ext cx="411480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38160" y="1490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A Clear Health Gradient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103120"/>
          <a:ext cx="3703320" cy="146304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BMI Category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Avg. Quality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Avg. Duration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</a:rPr>
                        <a:t>Normal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</a:rPr>
                        <a:t>7.64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</a:rPr>
                        <a:t>7.39 hrs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</a:rPr>
                        <a:t>Overweight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</a:rPr>
                        <a:t>6.90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</a:rPr>
                        <a:t>6.77 hrs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</a:rPr>
                        <a:t>Obese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</a:rPr>
                        <a:t>6.40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</a:rPr>
                        <a:t>6.96 hrs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7589520" y="379476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</a:rPr>
              <a:t>Normal-BMI individuals sleep noticeably better than Overweight or Obese groups — reinforcing that sleep quality is tied to overall physical health, not just stress or activity alone.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10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Disorders Across BMI Categories</a:t>
            </a:r>
            <a:endParaRPr lang="en-US" sz="2700" dirty="0"/>
          </a:p>
        </p:txBody>
      </p:sp>
      <p:pic>
        <p:nvPicPr>
          <p:cNvPr id="3" name="Image 0" descr="/home/claude/sleep_project/figures/08_disorder_by_bm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88720"/>
            <a:ext cx="694944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1188720"/>
            <a:ext cx="3703320" cy="5212080"/>
          </a:xfrm>
          <a:prstGeom prst="roundRect">
            <a:avLst>
              <a:gd name="adj" fmla="val 1975"/>
            </a:avLst>
          </a:prstGeom>
          <a:solidFill>
            <a:srgbClr val="F4EFE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63040"/>
            <a:ext cx="411480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0" y="14904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Disorder Insight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8138160" y="210312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Those with NO disorder </a:t>
            </a:r>
            <a:r>
              <a:rPr lang="en-US" sz="1200" dirty="0">
                <a:solidFill>
                  <a:srgbClr val="5C6B7A"/>
                </a:solidFill>
              </a:rPr>
              <a:t>average the highest sleep quality (7.63) and lowest stress (5.11).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Insomnia sufferers </a:t>
            </a:r>
            <a:r>
              <a:rPr lang="en-US" sz="1200" dirty="0">
                <a:solidFill>
                  <a:srgbClr val="5C6B7A"/>
                </a:solidFill>
              </a:rPr>
              <a:t>show the lowest sleep quality (6.53) and highest stress (5.87) of all groups.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</a:rPr>
              <a:t>Sleep disorders cluster more heavily among Overweight/Obese individuals, linking BMI, stress and sleep disorder together.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11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Sleep Quality Directly Proportional to Lifestyle?</a:t>
            </a:r>
            <a:endParaRPr lang="en-US" sz="2500" dirty="0"/>
          </a:p>
        </p:txBody>
      </p:sp>
      <p:pic>
        <p:nvPicPr>
          <p:cNvPr id="4" name="Image 1" descr="/home/claude/sleep_project/figures/07_correlation_heatma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1143000"/>
            <a:ext cx="6675120" cy="5349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315200" y="1143000"/>
            <a:ext cx="4297680" cy="534924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</p:spPr>
      </p:sp>
      <p:sp>
        <p:nvSpPr>
          <p:cNvPr id="6" name="Text 2"/>
          <p:cNvSpPr/>
          <p:nvPr/>
        </p:nvSpPr>
        <p:spPr>
          <a:xfrm>
            <a:off x="758952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A5F"/>
                </a:solidFill>
              </a:rPr>
              <a:t>The Honest Answer: Partially.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965960"/>
          <a:ext cx="3749040" cy="19202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r-value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Sleep Duration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+0.88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Strong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Stress Level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-0.90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Strong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Heart Rate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-0.66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Moderate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Physical Activity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+0.19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Weak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Daily Steps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+0.02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None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7589520" y="411480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</a:rPr>
              <a:t>Sleep quality moves strongly and predictably with stress and sleep duration — but barely moves with activity level or step count. So lifestyle and sleep quality are proportional for some factors, and largely independent for others.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12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Duration by Sleep Disorder</a:t>
            </a:r>
            <a:endParaRPr lang="en-US" sz="2700" dirty="0"/>
          </a:p>
        </p:txBody>
      </p:sp>
      <p:pic>
        <p:nvPicPr>
          <p:cNvPr id="3" name="Image 0" descr="/home/claude/figures/10_duration_by_disorder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0080" y="1188720"/>
            <a:ext cx="676656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80960" y="1188720"/>
            <a:ext cx="3886200" cy="5212080"/>
          </a:xfrm>
          <a:prstGeom prst="roundRect">
            <a:avLst>
              <a:gd name="adj" fmla="val 1882"/>
            </a:avLst>
          </a:prstGeom>
          <a:solidFill>
            <a:srgbClr val="F4EFE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4630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49640" y="1508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A Clear Difference in Rest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9052560" y="2240280"/>
            <a:ext cx="1737360" cy="1737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4"/>
          <p:cNvSpPr/>
          <p:nvPr/>
        </p:nvSpPr>
        <p:spPr>
          <a:xfrm>
            <a:off x="9052560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5F"/>
                </a:solidFill>
              </a:rPr>
              <a:t>7.13 hrs avg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955280" y="41605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People with No Disorder sleep the longest on average.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Sleep Apnea and Insomnia sufferers both have shorter average durations — showing that disorders don’t just reduce quality, they also reduce the hours of sleep obtained.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13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Distribution by Sleep Disorder</a:t>
            </a:r>
            <a:endParaRPr lang="en-US" sz="2700" dirty="0"/>
          </a:p>
        </p:txBody>
      </p:sp>
      <p:pic>
        <p:nvPicPr>
          <p:cNvPr id="3" name="Image 0" descr="/home/claude/figures/11_age_by_disorder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0080" y="1188720"/>
            <a:ext cx="676656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80960" y="1188720"/>
            <a:ext cx="3886200" cy="5212080"/>
          </a:xfrm>
          <a:prstGeom prst="roundRect">
            <a:avLst>
              <a:gd name="adj" fmla="val 1882"/>
            </a:avLst>
          </a:prstGeom>
          <a:solidFill>
            <a:srgbClr val="F4EFE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4630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49640" y="1508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Who Gets Affected?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9052560" y="2240280"/>
            <a:ext cx="1737360" cy="1737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4"/>
          <p:cNvSpPr/>
          <p:nvPr/>
        </p:nvSpPr>
        <p:spPr>
          <a:xfrm>
            <a:off x="9052560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5F"/>
                </a:solidFill>
              </a:rPr>
              <a:t>Avg age: 42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955280" y="41605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Violin plot shows the full age spread within each disorder group, not just the average.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Sleep Apnea tends to appear more in middle-to-older age groups. Insomnia has a wider spread, affecting all ages. No Disorder is common across all ages too.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14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Quality: Gender vs Sleep Disorder</a:t>
            </a:r>
            <a:endParaRPr lang="en-US" sz="2700" dirty="0"/>
          </a:p>
        </p:txBody>
      </p:sp>
      <p:pic>
        <p:nvPicPr>
          <p:cNvPr id="3" name="Image 0" descr="/home/claude/figures/12_quality_gender_disorder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0080" y="1188720"/>
            <a:ext cx="676656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80960" y="1188720"/>
            <a:ext cx="3886200" cy="5212080"/>
          </a:xfrm>
          <a:prstGeom prst="roundRect">
            <a:avLst>
              <a:gd name="adj" fmla="val 1882"/>
            </a:avLst>
          </a:prstGeom>
          <a:solidFill>
            <a:srgbClr val="F4EFE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4630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49640" y="1508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Gender Gap in Sleep Quality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9052560" y="2240280"/>
            <a:ext cx="1737360" cy="1737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4"/>
          <p:cNvSpPr/>
          <p:nvPr/>
        </p:nvSpPr>
        <p:spPr>
          <a:xfrm>
            <a:off x="9052560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5F"/>
                </a:solidFill>
              </a:rPr>
              <a:t>50 / 50 split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955280" y="41605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Compares average sleep quality for males vs females across all three disorder groups.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Both genders show similar patterns — sleep quality drops significantly with disorders. The dataset is nearly 50/50 male/female (189M vs 185F), making this comparison reliable.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15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Rate vs Stress Level</a:t>
            </a:r>
            <a:endParaRPr lang="en-US" sz="2700" dirty="0"/>
          </a:p>
        </p:txBody>
      </p:sp>
      <p:pic>
        <p:nvPicPr>
          <p:cNvPr id="3" name="Image 0" descr="/home/claude/figures/13_heartrate_vs_stress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0080" y="1188720"/>
            <a:ext cx="676656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80960" y="1188720"/>
            <a:ext cx="3886200" cy="5212080"/>
          </a:xfrm>
          <a:prstGeom prst="roundRect">
            <a:avLst>
              <a:gd name="adj" fmla="val 1882"/>
            </a:avLst>
          </a:prstGeom>
          <a:solidFill>
            <a:srgbClr val="F4EFE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4630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49640" y="1508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Stress Raises the Heart Too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9052560" y="2240280"/>
            <a:ext cx="1737360" cy="1737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4"/>
          <p:cNvSpPr/>
          <p:nvPr/>
        </p:nvSpPr>
        <p:spPr>
          <a:xfrm>
            <a:off x="9052560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5F"/>
                </a:solidFill>
              </a:rPr>
              <a:t>r = +0.67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955280" y="41605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Higher stress level is strongly associated with a higher resting heart rate (r = +0.67).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</a:rPr>
              <a:t>This confirms stress has a measurable physiological impact — not just on sleep quality, but on the cardiovascular system too. The regression line shows a clear upward trend.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16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481328"/>
            <a:ext cx="365760" cy="365760"/>
          </a:xfrm>
          <a:prstGeom prst="ellipse">
            <a:avLst/>
          </a:prstGeom>
          <a:solidFill>
            <a:srgbClr val="3E7C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389888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</a:rPr>
              <a:t>Stress is the single biggest predictor of poor sleep quality (r = -0.90) — far more than physical activity.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25980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281428"/>
            <a:ext cx="365760" cy="365760"/>
          </a:xfrm>
          <a:prstGeom prst="ellipse">
            <a:avLst/>
          </a:prstGeom>
          <a:solidFill>
            <a:srgbClr val="3E7C8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814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189988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</a:rPr>
              <a:t>Sleep duration and sleep quality move almost in lockstep (r = 0.88), confirming both measure overlapping ground.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081528"/>
            <a:ext cx="365760" cy="365760"/>
          </a:xfrm>
          <a:prstGeom prst="ellipse">
            <a:avLst/>
          </a:prstGeom>
          <a:solidFill>
            <a:srgbClr val="3E7C8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990088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</a:rPr>
              <a:t>41.4% of individuals report a sleep disorder, with Insomnia linked to the lowest sleep quality and highest stress.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26180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881628"/>
            <a:ext cx="365760" cy="365760"/>
          </a:xfrm>
          <a:prstGeom prst="ellipse">
            <a:avLst/>
          </a:prstGeom>
          <a:solidFill>
            <a:srgbClr val="3E7C8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816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790188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</a:rPr>
              <a:t>Physical activity and daily step count show only weak-to-no correlation with sleep quality — exercise alone isn't a guaranteed fix.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681728"/>
            <a:ext cx="365760" cy="365760"/>
          </a:xfrm>
          <a:prstGeom prst="ellipse">
            <a:avLst/>
          </a:prstGeom>
          <a:solidFill>
            <a:srgbClr val="3E7C8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590288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</a:rPr>
              <a:t>Normal-BMI individuals consistently sleep better than Overweight or Obese individuals, tying physical health to sleep outcomes.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326380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5481828"/>
            <a:ext cx="365760" cy="365760"/>
          </a:xfrm>
          <a:prstGeom prst="ellipse">
            <a:avLst/>
          </a:prstGeom>
          <a:solidFill>
            <a:srgbClr val="3E7C8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4818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390388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</a:rPr>
              <a:t>Occupation shows a visible (if data-limited) pattern, suggesting work-related stress and schedules influence sleep indirectly.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13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594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1417320"/>
            <a:ext cx="50292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82880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CE5F0"/>
                </a:solidFill>
              </a:rPr>
              <a:t>Sleep quality is not uniformly proportional to lifestyle — it is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E07A5F"/>
                </a:solidFill>
              </a:rPr>
              <a:t>strongly tied to psychological and physiological factors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CE5F0"/>
                </a:solidFill>
              </a:rPr>
              <a:t>(stress, heart rate, sleep duration), but only weakly tied to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E07A5F"/>
                </a:solidFill>
              </a:rPr>
              <a:t>physical activity and step count.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429768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8FA9C4"/>
                </a:solidFill>
              </a:rPr>
              <a:t>This suggests that improving sleep quality requires managing stress and overall health — not just increasing exercise. A holistic lifestyle approach, not a single-variable fix, is what the data supports.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955280" y="182880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243A63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0" y="2606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9D5E3"/>
                </a:solidFill>
              </a:rPr>
              <a:t>Apply regression/ML models to predict sleep quality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9D5E3"/>
                </a:solidFill>
              </a:rPr>
              <a:t>Expand dataset size for underrepresented occupations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9D5E3"/>
                </a:solidFill>
              </a:rPr>
              <a:t>Include wearable-device data (REM/deep sleep stages)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9D5E3"/>
                </a:solidFill>
              </a:rPr>
              <a:t>Study causality, not just correlation, via controlled study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</a:rPr>
              <a:t>14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</a:rPr>
              <a:t>Sleep Health &amp; Lifestyle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3E7C8C">
              <a:alpha val="18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116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92608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0" y="37033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D5E3"/>
                </a:solidFill>
              </a:rPr>
              <a:t>Questions &amp; Discussion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1469</Words>
  <Application>Microsoft Office PowerPoint</Application>
  <PresentationFormat>Widescreen</PresentationFormat>
  <Paragraphs>213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Health and Lifestyle Analysis</dc:title>
  <dc:subject>PptxGenJS Presentation</dc:subject>
  <dc:creator>Student</dc:creator>
  <cp:lastModifiedBy>akhil singh</cp:lastModifiedBy>
  <cp:revision>3</cp:revision>
  <dcterms:created xsi:type="dcterms:W3CDTF">2026-06-18T04:58:31Z</dcterms:created>
  <dcterms:modified xsi:type="dcterms:W3CDTF">2026-06-18T08:57:56Z</dcterms:modified>
</cp:coreProperties>
</file>